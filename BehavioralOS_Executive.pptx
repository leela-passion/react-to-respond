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Operating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Platform for Self-Awareness at 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Zero-AI  ·  Deterministic  ·  Trust-First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566160"/>
            <a:ext cx="8412480" cy="0"/>
          </a:xfrm>
          <a:prstGeom prst="line">
            <a:avLst/>
          </a:prstGeom>
          <a:noFill/>
          <a:ln w="12700">
            <a:solidFill>
              <a:srgbClr val="1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 Briefing  |  Confidential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"/>
            <a:ext cx="2286000" cy="2286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548640"/>
            <a:ext cx="1280160" cy="128016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Are Flying Blind on Behavior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51760" cy="2560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265176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Patterns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 exists only in managers' heads. No system captures how teams actually think, respond, or recover.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828800"/>
            <a:ext cx="2651760" cy="2560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828800"/>
            <a:ext cx="265176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0116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Deficit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91840" y="29718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feel like surveillance. Employees filter responses. The data becomes useless—or worse, misleading.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828800"/>
            <a:ext cx="2651760" cy="2560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828800"/>
            <a:ext cx="265176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116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Potential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26480" y="29718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mindsets, entitlement loops, and low self-awareness go unaddressed. High performers burn out. Teams stagnate.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85% of employees self-censor on engagement surveys   ·   Only 14% of orgs have actionable behavioral data   ·   $1.1T lost annually to disengagement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WHAT WE'RE BUILDING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survey.
</a:t>
            </a:r>
            <a:pPr indent="0" marL="0">
              <a:buNone/>
            </a:pPr>
            <a:r>
              <a:rPr lang="en-US" sz="28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HR dashboard.
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Behavioral Operating System.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788920"/>
            <a:ext cx="8412480" cy="118872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8346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Thesis: </a:t>
            </a:r>
            <a:pPr indent="0" marL="0">
              <a:buNone/>
            </a:pPr>
            <a:r>
              <a:rPr lang="en-US" sz="14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behavioral reflection system that converts psychological theory into daily decision signals — deterministically, without AI hallucination, without surveillance.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160520"/>
            <a:ext cx="2651760" cy="64008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60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Zero-AI Determinism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160520"/>
            <a:ext cx="2651760" cy="64008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160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Privacy by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4160520"/>
            <a:ext cx="2651760" cy="64008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4160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Behavior → Signal Pipeline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Behavioral Data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202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19202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1417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Interaction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Selected options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Session ID based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33756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 raw text stored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2697480"/>
            <a:ext cx="25603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14016" y="26334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50592" y="1508760"/>
            <a:ext cx="19202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1508760"/>
            <a:ext cx="19202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53512" y="1508760"/>
            <a:ext cx="1417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Secure Processing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87752" y="224028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52344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Encrypt before storage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87752" y="278892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2344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Option → Signal map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87752" y="333756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52344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Deterministic logic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70832" y="2697480"/>
            <a:ext cx="25603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26334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26864" y="1508760"/>
            <a:ext cx="19202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1508760"/>
            <a:ext cx="192024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9784" y="1508760"/>
            <a:ext cx="1417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Aggregation Layer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64024" y="224028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Axis counts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64024" y="278892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Trend computation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64024" y="333756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 raw emotional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47104" y="2697480"/>
            <a:ext cx="25603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26334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03136" y="1508760"/>
            <a:ext cx="19202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03136" y="1508760"/>
            <a:ext cx="192024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306056" y="1508760"/>
            <a:ext cx="1417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 Layer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40296" y="2240280"/>
            <a:ext cx="109728" cy="10972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04888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Trends &amp; patterns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0296" y="2788920"/>
            <a:ext cx="109728" cy="10972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04888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 labels/judgments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40296" y="3337560"/>
            <a:ext cx="109728" cy="10972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04888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Org-level only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297680"/>
            <a:ext cx="8705088" cy="7315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02336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21040" y="402336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Daily Reflection Input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7724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Aggregated Trends Only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0" y="4663440"/>
            <a:ext cx="2743200" cy="347472"/>
          </a:xfrm>
          <a:prstGeom prst="roundRect">
            <a:avLst>
              <a:gd name="adj" fmla="val 13158"/>
            </a:avLst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6404"/>
                </a:solidFill>
              </a:rPr>
              <a:t>🔒  No individual-level data exposed to managers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</a:rPr>
              <a:t>BEHAVIORAL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Observations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Trust &gt;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 perfect system fails if users feel judged. Trust is not a feature — it is the product.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5176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54480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Honesty Is Fragile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More data = more fear → less honesty → useless system. This is the core product risk loop.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5176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5448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UI Affects Truth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331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Corporate UI causes users to filter. Calm, personal design directly improves data quality.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411480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5468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Behavior Shaping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This isn't just tracking — it shifts Victim → Victor, Entitlement → Contribution.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4114800" cy="141732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154680"/>
            <a:ext cx="73152" cy="1417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566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Determinism as Moat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93192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While AI competitors hallucinate, we guarantee consistency, auditability, and data control.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PRODUCT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Feels like a calm, thoughtful friend — not a 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329184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UX Design Rules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One question per screen — no cognitive overload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Soft gradients, micro-transitions between questions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Large tappable options — zero text input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74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No progress pressure (no '10/12 completed' stress)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Session-based subtle variation: tone, microcopy, animation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114800" cy="3291840"/>
          </a:xfrm>
          <a:prstGeom prst="rect">
            <a:avLst/>
          </a:prstGeom>
          <a:solidFill>
            <a:srgbClr val="0D2A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Reflection Engine (3-Step)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3840480" cy="685800"/>
          </a:xfrm>
          <a:prstGeom prst="rect">
            <a:avLst/>
          </a:prstGeom>
          <a:solidFill>
            <a:srgbClr val="1422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1. MIRROR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E6F0"/>
                </a:solidFill>
              </a:rPr>
              <a:t>"It felt like things were outside your control"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3840480" cy="685800"/>
          </a:xfrm>
          <a:prstGeom prst="rect">
            <a:avLst/>
          </a:prstGeom>
          <a:solidFill>
            <a:srgbClr val="14223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2. NORMALIZE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E6F0"/>
                </a:solidFill>
              </a:rPr>
              <a:t>"That's real on difficult days"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3840480" cy="685800"/>
          </a:xfrm>
          <a:prstGeom prst="rect">
            <a:avLst/>
          </a:prstGeom>
          <a:solidFill>
            <a:srgbClr val="1422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3. REFRAME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E6F0"/>
                </a:solidFill>
              </a:rPr>
              <a:t>"But there was still a moment you chose your response"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</a:rPr>
              <a:t>QUESTION DESIGN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Reveals Behavior — Not Intention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554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Rule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828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Reveals behavior, not stated intention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6517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554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Rule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55848" y="1828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options are equally valid — zero moral hierarchy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26517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554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Rule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36208" y="1828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Every option maps cleanly to a behavioral signal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228600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Golden Transformation: BA-Level Question Engineering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566160" cy="146304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27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❌  WEAK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"Did you take ownership today?"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Morally loaded. Forces a correct answer.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Activates social desirability bias.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3749040" cy="1463040"/>
          </a:xfrm>
          <a:prstGeom prst="rect">
            <a:avLst/>
          </a:prstGeom>
          <a:solidFill>
            <a:srgbClr val="F0FF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940"/>
                </a:solidFill>
              </a:rPr>
              <a:t>✅  STRONG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"What best explains what happened?"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940"/>
                </a:solidFill>
              </a:rPr>
              <a:t>Neutral framing. All answers valid.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7940"/>
                </a:solidFill>
              </a:rPr>
              <a:t>Maps directly to locus-of-control signal.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60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</a:rPr>
              <a:t>PRIVACY &amp;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Not a Feature. It Is the Product.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37160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733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No Manager Access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2103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8"/>
                </a:solidFill>
              </a:rPr>
              <a:t>Individual responses are never accessible to managers or HR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4114800" cy="137160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6733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No Individual Analytics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32120" y="2103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8"/>
                </a:solidFill>
              </a:rPr>
              <a:t>Only aggregate trends exposed. Never personal data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108960"/>
            <a:ext cx="4114800" cy="137160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273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Ephemeral Mode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43000" y="3703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8"/>
                </a:solidFill>
              </a:rPr>
              <a:t>"Don't save today's reflection" — boosts honesty immediately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108960"/>
            <a:ext cx="4114800" cy="137160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273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Encrypt First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32120" y="3703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8"/>
                </a:solidFill>
              </a:rPr>
              <a:t>All data encrypted before storage. Signal extracted, raw data discarded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0D2A3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Core Risk Loop:  More data collected → more fear → less honesty → system output degrades → trust collapses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</a:rPr>
              <a:t>IMPACT MEASUREMENT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Measurement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2834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1: Engagement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4864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R7 / R14 retention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864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Session completion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54864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74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Drop-off point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508760"/>
            <a:ext cx="2651760" cy="2834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508760"/>
            <a:ext cx="26517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2: Honesty (Advanced)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194560"/>
            <a:ext cx="54864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Answer Entropy 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834640"/>
            <a:ext cx="54864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Varied ≠ Repetitive-perfect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474720"/>
            <a:ext cx="54864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3474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Detects social desirability bias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508760"/>
            <a:ext cx="2651760" cy="2834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508760"/>
            <a:ext cx="26517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3: Behavioral Change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19456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Axis shift over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83464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Recovery speed post-bad day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47472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3474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Pattern evolution curves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98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Org-Level Insight Examples: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68880" y="44988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"Team shows external locus on Mondays"   ·   "Contribution scores dip 3 days before deadlines"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ROLES &amp; RESPONSIBILITIES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Actually Doing Here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solidFill>
            <a:srgbClr val="0D2A3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  Business Analyst 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You are encoding human behavior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into a decision system.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Define behavioral signals from raw options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Map answer → signal → outcome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Ensure determinism across edge cases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Validate psychological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Design traceable, auditable logic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931920" cy="3291840"/>
          </a:xfrm>
          <a:prstGeom prst="rect">
            <a:avLst/>
          </a:prstGeom>
          <a:solidFill>
            <a:srgbClr val="0D2A3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417320"/>
            <a:ext cx="39319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417320"/>
            <a:ext cx="3749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🚀  Product Manager Role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2148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623"/>
                </a:solidFill>
              </a:rPr>
              <a:t>You are designing a trust-based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5A623"/>
                </a:solidFill>
              </a:rPr>
              <a:t>behavioral product.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8346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Define and protect product positioning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24612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Guard user trust at every touchpoint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65760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Prevent misuse by orgs or managers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406908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Design the trust-driven adoption loop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48056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0"/>
                </a:solidFill>
              </a:rPr>
              <a:t>Align business metrics with ethics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</a:rPr>
              <a:t>COMPETITIVE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Competitors Fail — Where We Win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5146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Failure Mode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554480"/>
            <a:ext cx="25146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Industry Default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554480"/>
            <a:ext cx="2697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Approach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Question 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2011680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0116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✗  Morally-loaded, binary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011680"/>
            <a:ext cx="2697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0116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940"/>
                </a:solidFill>
              </a:rPr>
              <a:t>✓  Equally valid options, behavior-mapped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50592"/>
            <a:ext cx="251460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505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Data Honesty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450592"/>
            <a:ext cx="251460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4505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✗  High social desirability bias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50592"/>
            <a:ext cx="269748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4505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940"/>
                </a:solidFill>
              </a:rPr>
              <a:t>✓  Ephemeral mode + trust architecture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89504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89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AI Reliability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2889504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2889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✗  Hallucination risk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2889504"/>
            <a:ext cx="2697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8895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940"/>
                </a:solidFill>
              </a:rPr>
              <a:t>✓  Deterministic, auditable logic only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328416"/>
            <a:ext cx="251460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284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Privacy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3328416"/>
            <a:ext cx="251460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33284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✗  Manager dashboards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3328416"/>
            <a:ext cx="269748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32841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940"/>
                </a:solidFill>
              </a:rPr>
              <a:t>✓  Zero individual exposure guaranteed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767328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673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Reflection Quality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3767328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37673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✗  Score + generic feedback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0" y="3767328"/>
            <a:ext cx="2697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7673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940"/>
                </a:solidFill>
              </a:rPr>
              <a:t>✓  Mirror → Normalize → Reframe engine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206240"/>
            <a:ext cx="251460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06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Moat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26080" y="4206240"/>
            <a:ext cx="251460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42062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✗  Easily replicated prompts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4206240"/>
            <a:ext cx="2697480" cy="438912"/>
          </a:xfrm>
          <a:prstGeom prst="rect">
            <a:avLst/>
          </a:prstGeom>
          <a:solidFill>
            <a:srgbClr val="F0F7FA"/>
          </a:solidFill>
          <a:ln w="6350">
            <a:solidFill>
              <a:srgbClr val="D1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4206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940"/>
                </a:solidFill>
              </a:rPr>
              <a:t>✓  Encoded behavioral science logic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1828800" cy="18288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SYNTHESIS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Does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943600" cy="530352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45920"/>
            <a:ext cx="10972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459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01  Makes thinking visible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5943600" cy="530352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04288"/>
            <a:ext cx="10972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0428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02  Makes behavior measurable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5943600" cy="530352"/>
          </a:xfrm>
          <a:prstGeom prst="rect">
            <a:avLst/>
          </a:prstGeom>
          <a:solidFill>
            <a:srgbClr val="0D2A3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62656"/>
            <a:ext cx="109728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6265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03  Protects user honesty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5943600" cy="530352"/>
          </a:xfrm>
          <a:prstGeom prst="rect">
            <a:avLst/>
          </a:prstGeom>
          <a:solidFill>
            <a:srgbClr val="0D2A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21024"/>
            <a:ext cx="109728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2102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04  Scales self-awareness across orgs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159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product succeeds only if users feel safe enough to be imperfect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smart enough to notice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Operating System – Executive Briefing</dc:title>
  <dc:subject>PptxGenJS Presentation</dc:subject>
  <dc:creator>PptxGenJS</dc:creator>
  <cp:lastModifiedBy>PptxGenJS</cp:lastModifiedBy>
  <cp:revision>1</cp:revision>
  <dcterms:created xsi:type="dcterms:W3CDTF">2026-04-21T06:56:49Z</dcterms:created>
  <dcterms:modified xsi:type="dcterms:W3CDTF">2026-04-21T06:56:49Z</dcterms:modified>
</cp:coreProperties>
</file>